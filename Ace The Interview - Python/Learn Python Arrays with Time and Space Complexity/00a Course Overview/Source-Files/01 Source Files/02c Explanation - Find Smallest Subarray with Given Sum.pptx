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2E2DB4-05F7-435D-8435-0497258E83BB}">
  <a:tblStyle styleId="{152E2DB4-05F7-435D-8435-0497258E83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aleway-regular.fntdata"/><Relationship Id="rId21" Type="http://schemas.openxmlformats.org/officeDocument/2006/relationships/slide" Target="slides/slide15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c531556375_0_60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c531556375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c2104f2ff1_0_1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c2104f2ff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c2104f2ff1_0_18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c2104f2ff1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c2104f2ff1_0_1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c2104f2ff1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c2104f2ff1_0_20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c2104f2ff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c2104f2ff1_0_2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c2104f2ff1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c2104f2ff1_0_2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c2104f2ff1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c2104f2ff1_0_2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c2104f2ff1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c2104f2ff1_0_2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c2104f2ff1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c2104f2ff1_0_2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c2104f2ff1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c2104f2ff1_0_2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c2104f2ff1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c2104f2ff1_0_2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c2104f2ff1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c2104f2ff1_0_2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c2104f2ff1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c2104f2ff1_0_2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c2104f2ff1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c2104f2ff1_0_30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c2104f2ff1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8E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669575" y="1296575"/>
            <a:ext cx="52503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Find Smallest Subarray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chemeClr val="dk2"/>
                </a:solidFill>
              </a:rPr>
              <a:t>with Given Sum</a:t>
            </a:r>
            <a:endParaRPr b="0" i="1" sz="20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>
            <p:ph type="ctrTitle"/>
          </p:nvPr>
        </p:nvSpPr>
        <p:spPr>
          <a:xfrm>
            <a:off x="4947900" y="2571750"/>
            <a:ext cx="4196100" cy="23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{ ? }</a:t>
            </a:r>
            <a:endParaRPr b="0" sz="17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4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{152E2DB4-05F7-435D-8435-0497258E83BB}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" name="Google Shape;72;p14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S </a:t>
            </a:r>
            <a:r>
              <a:rPr lang="en" sz="2900">
                <a:solidFill>
                  <a:schemeClr val="dk2"/>
                </a:solidFill>
              </a:rPr>
              <a:t>= 7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73" name="Google Shape;73;p14"/>
          <p:cNvSpPr txBox="1"/>
          <p:nvPr>
            <p:ph type="ctrTitle"/>
          </p:nvPr>
        </p:nvSpPr>
        <p:spPr>
          <a:xfrm>
            <a:off x="8001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Min</a:t>
            </a:r>
            <a:r>
              <a:rPr b="0" lang="en" sz="2900">
                <a:solidFill>
                  <a:schemeClr val="dk2"/>
                </a:solidFill>
              </a:rPr>
              <a:t> length: </a:t>
            </a:r>
            <a:r>
              <a:rPr lang="en" sz="2900">
                <a:solidFill>
                  <a:schemeClr val="dk2"/>
                </a:solidFill>
              </a:rPr>
              <a:t>infinity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0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Google Shape;78;p15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{152E2DB4-05F7-435D-8435-0497258E83BB}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" name="Google Shape;79;p15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S = 7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 txBox="1"/>
          <p:nvPr>
            <p:ph type="ctrTitle"/>
          </p:nvPr>
        </p:nvSpPr>
        <p:spPr>
          <a:xfrm>
            <a:off x="8001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Min length: </a:t>
            </a:r>
            <a:r>
              <a:rPr lang="en" sz="2900">
                <a:solidFill>
                  <a:schemeClr val="dk2"/>
                </a:solidFill>
              </a:rPr>
              <a:t>infinity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2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Google Shape;85;p16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{152E2DB4-05F7-435D-8435-0497258E83BB}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6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S = 7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 txBox="1"/>
          <p:nvPr>
            <p:ph type="ctrTitle"/>
          </p:nvPr>
        </p:nvSpPr>
        <p:spPr>
          <a:xfrm>
            <a:off x="8001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Min length: </a:t>
            </a:r>
            <a:r>
              <a:rPr lang="en" sz="2900">
                <a:solidFill>
                  <a:schemeClr val="dk2"/>
                </a:solidFill>
              </a:rPr>
              <a:t>infinity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3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Google Shape;92;p17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{152E2DB4-05F7-435D-8435-0497258E83BB}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7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S = 7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94" name="Google Shape;94;p17"/>
          <p:cNvSpPr txBox="1"/>
          <p:nvPr>
            <p:ph type="ctrTitle"/>
          </p:nvPr>
        </p:nvSpPr>
        <p:spPr>
          <a:xfrm>
            <a:off x="8001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Min length: </a:t>
            </a:r>
            <a:r>
              <a:rPr lang="en" sz="2900">
                <a:solidFill>
                  <a:schemeClr val="dk2"/>
                </a:solidFill>
              </a:rPr>
              <a:t>infinity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8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95" name="Google Shape;95;p17"/>
          <p:cNvSpPr txBox="1"/>
          <p:nvPr>
            <p:ph type="ctrTitle"/>
          </p:nvPr>
        </p:nvSpPr>
        <p:spPr>
          <a:xfrm>
            <a:off x="5034325" y="3174700"/>
            <a:ext cx="26394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While &gt;=S </a:t>
            </a:r>
            <a:endParaRPr i="1" sz="2900">
              <a:solidFill>
                <a:schemeClr val="dk2"/>
              </a:solidFill>
            </a:endParaRPr>
          </a:p>
        </p:txBody>
      </p:sp>
      <p:cxnSp>
        <p:nvCxnSpPr>
          <p:cNvPr id="96" name="Google Shape;96;p17"/>
          <p:cNvCxnSpPr/>
          <p:nvPr/>
        </p:nvCxnSpPr>
        <p:spPr>
          <a:xfrm flipH="1" rot="10800000">
            <a:off x="4034300" y="4009250"/>
            <a:ext cx="854400" cy="43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18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{152E2DB4-05F7-435D-8435-0497258E83BB}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" name="Google Shape;102;p18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S = 7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103" name="Google Shape;103;p18"/>
          <p:cNvSpPr txBox="1"/>
          <p:nvPr>
            <p:ph type="ctrTitle"/>
          </p:nvPr>
        </p:nvSpPr>
        <p:spPr>
          <a:xfrm>
            <a:off x="8001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Min length: </a:t>
            </a:r>
            <a:r>
              <a:rPr lang="en" sz="2900">
                <a:solidFill>
                  <a:schemeClr val="dk2"/>
                </a:solidFill>
              </a:rPr>
              <a:t>infinity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8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04" name="Google Shape;104;p18"/>
          <p:cNvSpPr txBox="1"/>
          <p:nvPr>
            <p:ph type="ctrTitle"/>
          </p:nvPr>
        </p:nvSpPr>
        <p:spPr>
          <a:xfrm>
            <a:off x="5046475" y="3321375"/>
            <a:ext cx="39303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000">
                <a:solidFill>
                  <a:schemeClr val="dk2"/>
                </a:solidFill>
              </a:rPr>
              <a:t>Find min of</a:t>
            </a:r>
            <a:r>
              <a:rPr b="0" i="1" lang="en" sz="2000">
                <a:solidFill>
                  <a:schemeClr val="dk2"/>
                </a:solidFill>
              </a:rPr>
              <a:t> </a:t>
            </a:r>
            <a:r>
              <a:rPr i="1" lang="en" sz="2000">
                <a:solidFill>
                  <a:schemeClr val="dk2"/>
                </a:solidFill>
              </a:rPr>
              <a:t>min length</a:t>
            </a:r>
            <a:r>
              <a:rPr b="0" i="1" lang="en" sz="2000">
                <a:solidFill>
                  <a:schemeClr val="dk2"/>
                </a:solidFill>
              </a:rPr>
              <a:t> and </a:t>
            </a:r>
            <a:r>
              <a:rPr i="1" lang="en" sz="2000">
                <a:solidFill>
                  <a:schemeClr val="dk2"/>
                </a:solidFill>
              </a:rPr>
              <a:t>current index - start index + 1 </a:t>
            </a:r>
            <a:endParaRPr i="1" sz="2000">
              <a:solidFill>
                <a:schemeClr val="dk2"/>
              </a:solidFill>
            </a:endParaRPr>
          </a:p>
        </p:txBody>
      </p:sp>
      <p:cxnSp>
        <p:nvCxnSpPr>
          <p:cNvPr id="105" name="Google Shape;105;p18"/>
          <p:cNvCxnSpPr/>
          <p:nvPr/>
        </p:nvCxnSpPr>
        <p:spPr>
          <a:xfrm>
            <a:off x="4119200" y="3823875"/>
            <a:ext cx="897600" cy="4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" name="Google Shape;110;p19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{152E2DB4-05F7-435D-8435-0497258E83BB}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" name="Google Shape;111;p19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S = 7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112" name="Google Shape;112;p19"/>
          <p:cNvSpPr txBox="1"/>
          <p:nvPr>
            <p:ph type="ctrTitle"/>
          </p:nvPr>
        </p:nvSpPr>
        <p:spPr>
          <a:xfrm>
            <a:off x="8001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Min length: </a:t>
            </a:r>
            <a:r>
              <a:rPr lang="en" sz="2900">
                <a:solidFill>
                  <a:schemeClr val="dk2"/>
                </a:solidFill>
              </a:rPr>
              <a:t>3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8 - 2 = 6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13" name="Google Shape;113;p19"/>
          <p:cNvSpPr txBox="1"/>
          <p:nvPr>
            <p:ph type="ctrTitle"/>
          </p:nvPr>
        </p:nvSpPr>
        <p:spPr>
          <a:xfrm>
            <a:off x="5885925" y="3503725"/>
            <a:ext cx="26394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Subtract window start </a:t>
            </a:r>
            <a:endParaRPr i="1" sz="2900">
              <a:solidFill>
                <a:schemeClr val="dk2"/>
              </a:solidFill>
            </a:endParaRPr>
          </a:p>
        </p:txBody>
      </p:sp>
      <p:cxnSp>
        <p:nvCxnSpPr>
          <p:cNvPr id="114" name="Google Shape;114;p19"/>
          <p:cNvCxnSpPr/>
          <p:nvPr/>
        </p:nvCxnSpPr>
        <p:spPr>
          <a:xfrm flipH="1" rot="10800000">
            <a:off x="4837400" y="4009250"/>
            <a:ext cx="854400" cy="43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p20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{152E2DB4-05F7-435D-8435-0497258E83BB}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" name="Google Shape;120;p20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S = 7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121" name="Google Shape;121;p20"/>
          <p:cNvSpPr txBox="1"/>
          <p:nvPr>
            <p:ph type="ctrTitle"/>
          </p:nvPr>
        </p:nvSpPr>
        <p:spPr>
          <a:xfrm>
            <a:off x="8001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Min length: </a:t>
            </a:r>
            <a:r>
              <a:rPr lang="en" sz="2900">
                <a:solidFill>
                  <a:schemeClr val="dk2"/>
                </a:solidFill>
              </a:rPr>
              <a:t>3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8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22" name="Google Shape;122;p20"/>
          <p:cNvSpPr txBox="1"/>
          <p:nvPr>
            <p:ph type="ctrTitle"/>
          </p:nvPr>
        </p:nvSpPr>
        <p:spPr>
          <a:xfrm>
            <a:off x="5034325" y="3174700"/>
            <a:ext cx="26394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While &gt;=S </a:t>
            </a:r>
            <a:endParaRPr i="1" sz="2900">
              <a:solidFill>
                <a:schemeClr val="dk2"/>
              </a:solidFill>
            </a:endParaRPr>
          </a:p>
        </p:txBody>
      </p:sp>
      <p:cxnSp>
        <p:nvCxnSpPr>
          <p:cNvPr id="123" name="Google Shape;123;p20"/>
          <p:cNvCxnSpPr/>
          <p:nvPr/>
        </p:nvCxnSpPr>
        <p:spPr>
          <a:xfrm flipH="1" rot="10800000">
            <a:off x="4034300" y="4009250"/>
            <a:ext cx="854400" cy="43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" name="Google Shape;128;p21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{152E2DB4-05F7-435D-8435-0497258E83BB}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" name="Google Shape;129;p21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S = 7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130" name="Google Shape;130;p21"/>
          <p:cNvSpPr txBox="1"/>
          <p:nvPr>
            <p:ph type="ctrTitle"/>
          </p:nvPr>
        </p:nvSpPr>
        <p:spPr>
          <a:xfrm>
            <a:off x="8001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Min length: </a:t>
            </a:r>
            <a:r>
              <a:rPr lang="en" sz="2900">
                <a:solidFill>
                  <a:schemeClr val="dk2"/>
                </a:solidFill>
              </a:rPr>
              <a:t>3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8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31" name="Google Shape;131;p21"/>
          <p:cNvSpPr txBox="1"/>
          <p:nvPr>
            <p:ph type="ctrTitle"/>
          </p:nvPr>
        </p:nvSpPr>
        <p:spPr>
          <a:xfrm>
            <a:off x="5046475" y="3321375"/>
            <a:ext cx="39303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000">
                <a:solidFill>
                  <a:schemeClr val="dk2"/>
                </a:solidFill>
              </a:rPr>
              <a:t>Find min of </a:t>
            </a:r>
            <a:r>
              <a:rPr i="1" lang="en" sz="2000">
                <a:solidFill>
                  <a:schemeClr val="dk2"/>
                </a:solidFill>
              </a:rPr>
              <a:t>min length</a:t>
            </a:r>
            <a:r>
              <a:rPr b="0" i="1" lang="en" sz="2000">
                <a:solidFill>
                  <a:schemeClr val="dk2"/>
                </a:solidFill>
              </a:rPr>
              <a:t> and </a:t>
            </a:r>
            <a:r>
              <a:rPr i="1" lang="en" sz="2000">
                <a:solidFill>
                  <a:schemeClr val="dk2"/>
                </a:solidFill>
              </a:rPr>
              <a:t>current index - start index + 1 </a:t>
            </a:r>
            <a:endParaRPr i="1" sz="2000">
              <a:solidFill>
                <a:schemeClr val="dk2"/>
              </a:solidFill>
            </a:endParaRPr>
          </a:p>
        </p:txBody>
      </p:sp>
      <p:cxnSp>
        <p:nvCxnSpPr>
          <p:cNvPr id="132" name="Google Shape;132;p21"/>
          <p:cNvCxnSpPr/>
          <p:nvPr/>
        </p:nvCxnSpPr>
        <p:spPr>
          <a:xfrm>
            <a:off x="3233681" y="3839318"/>
            <a:ext cx="1740000" cy="24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22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{152E2DB4-05F7-435D-8435-0497258E83BB}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22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S = 7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139" name="Google Shape;139;p22"/>
          <p:cNvSpPr txBox="1"/>
          <p:nvPr>
            <p:ph type="ctrTitle"/>
          </p:nvPr>
        </p:nvSpPr>
        <p:spPr>
          <a:xfrm>
            <a:off x="8001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Min length: </a:t>
            </a:r>
            <a:r>
              <a:rPr lang="en" sz="2900">
                <a:solidFill>
                  <a:schemeClr val="dk2"/>
                </a:solidFill>
              </a:rPr>
              <a:t>3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8 - 1 = 7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40" name="Google Shape;140;p22"/>
          <p:cNvSpPr txBox="1"/>
          <p:nvPr>
            <p:ph type="ctrTitle"/>
          </p:nvPr>
        </p:nvSpPr>
        <p:spPr>
          <a:xfrm>
            <a:off x="5885925" y="3503725"/>
            <a:ext cx="26394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Subtract window start </a:t>
            </a:r>
            <a:endParaRPr i="1" sz="2900">
              <a:solidFill>
                <a:schemeClr val="dk2"/>
              </a:solidFill>
            </a:endParaRPr>
          </a:p>
        </p:txBody>
      </p:sp>
      <p:cxnSp>
        <p:nvCxnSpPr>
          <p:cNvPr id="141" name="Google Shape;141;p22"/>
          <p:cNvCxnSpPr/>
          <p:nvPr/>
        </p:nvCxnSpPr>
        <p:spPr>
          <a:xfrm flipH="1" rot="10800000">
            <a:off x="4837400" y="4009250"/>
            <a:ext cx="854400" cy="43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" name="Google Shape;146;p23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{152E2DB4-05F7-435D-8435-0497258E83BB}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p23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S = 7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148" name="Google Shape;148;p23"/>
          <p:cNvSpPr txBox="1"/>
          <p:nvPr>
            <p:ph type="ctrTitle"/>
          </p:nvPr>
        </p:nvSpPr>
        <p:spPr>
          <a:xfrm>
            <a:off x="8001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Min length: </a:t>
            </a:r>
            <a:r>
              <a:rPr lang="en" sz="2900">
                <a:solidFill>
                  <a:schemeClr val="dk2"/>
                </a:solidFill>
              </a:rPr>
              <a:t>3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7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49" name="Google Shape;149;p23"/>
          <p:cNvSpPr txBox="1"/>
          <p:nvPr>
            <p:ph type="ctrTitle"/>
          </p:nvPr>
        </p:nvSpPr>
        <p:spPr>
          <a:xfrm>
            <a:off x="5046475" y="3321375"/>
            <a:ext cx="39303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000">
                <a:solidFill>
                  <a:schemeClr val="dk2"/>
                </a:solidFill>
              </a:rPr>
              <a:t>Find min of </a:t>
            </a:r>
            <a:r>
              <a:rPr i="1" lang="en" sz="2000">
                <a:solidFill>
                  <a:schemeClr val="dk2"/>
                </a:solidFill>
              </a:rPr>
              <a:t>min length</a:t>
            </a:r>
            <a:r>
              <a:rPr b="0" i="1" lang="en" sz="2000">
                <a:solidFill>
                  <a:schemeClr val="dk2"/>
                </a:solidFill>
              </a:rPr>
              <a:t> and </a:t>
            </a:r>
            <a:r>
              <a:rPr i="1" lang="en" sz="2000">
                <a:solidFill>
                  <a:schemeClr val="dk2"/>
                </a:solidFill>
              </a:rPr>
              <a:t>current index - start index + 1 </a:t>
            </a:r>
            <a:endParaRPr i="1" sz="2000">
              <a:solidFill>
                <a:schemeClr val="dk2"/>
              </a:solidFill>
            </a:endParaRPr>
          </a:p>
        </p:txBody>
      </p:sp>
      <p:cxnSp>
        <p:nvCxnSpPr>
          <p:cNvPr id="150" name="Google Shape;150;p23"/>
          <p:cNvCxnSpPr/>
          <p:nvPr/>
        </p:nvCxnSpPr>
        <p:spPr>
          <a:xfrm>
            <a:off x="3233681" y="3839318"/>
            <a:ext cx="1740000" cy="24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24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{152E2DB4-05F7-435D-8435-0497258E83BB}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24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S = 7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157" name="Google Shape;157;p24"/>
          <p:cNvSpPr txBox="1"/>
          <p:nvPr>
            <p:ph type="ctrTitle"/>
          </p:nvPr>
        </p:nvSpPr>
        <p:spPr>
          <a:xfrm>
            <a:off x="8001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Min length: </a:t>
            </a:r>
            <a:r>
              <a:rPr lang="en" sz="2900">
                <a:solidFill>
                  <a:schemeClr val="dk2"/>
                </a:solidFill>
              </a:rPr>
              <a:t>2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10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58" name="Google Shape;158;p24"/>
          <p:cNvSpPr txBox="1"/>
          <p:nvPr>
            <p:ph type="ctrTitle"/>
          </p:nvPr>
        </p:nvSpPr>
        <p:spPr>
          <a:xfrm>
            <a:off x="5034325" y="3174700"/>
            <a:ext cx="26394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While &gt;=S </a:t>
            </a:r>
            <a:endParaRPr i="1" sz="2900">
              <a:solidFill>
                <a:schemeClr val="dk2"/>
              </a:solidFill>
            </a:endParaRPr>
          </a:p>
        </p:txBody>
      </p:sp>
      <p:cxnSp>
        <p:nvCxnSpPr>
          <p:cNvPr id="159" name="Google Shape;159;p24"/>
          <p:cNvCxnSpPr/>
          <p:nvPr/>
        </p:nvCxnSpPr>
        <p:spPr>
          <a:xfrm flipH="1" rot="10800000">
            <a:off x="4034300" y="4009250"/>
            <a:ext cx="854400" cy="43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Google Shape;164;p25"/>
          <p:cNvGraphicFramePr/>
          <p:nvPr/>
        </p:nvGraphicFramePr>
        <p:xfrm>
          <a:off x="952500" y="19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{152E2DB4-05F7-435D-8435-0497258E83BB}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25"/>
          <p:cNvSpPr txBox="1"/>
          <p:nvPr>
            <p:ph type="ctrTitle"/>
          </p:nvPr>
        </p:nvSpPr>
        <p:spPr>
          <a:xfrm>
            <a:off x="3947250" y="570175"/>
            <a:ext cx="1249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S = 7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166" name="Google Shape;166;p25"/>
          <p:cNvSpPr txBox="1"/>
          <p:nvPr>
            <p:ph type="ctrTitle"/>
          </p:nvPr>
        </p:nvSpPr>
        <p:spPr>
          <a:xfrm>
            <a:off x="800100" y="3391375"/>
            <a:ext cx="4343400" cy="14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Min length: </a:t>
            </a:r>
            <a:r>
              <a:rPr lang="en" sz="2900">
                <a:solidFill>
                  <a:schemeClr val="dk2"/>
                </a:solidFill>
              </a:rPr>
              <a:t>2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Window sum: </a:t>
            </a:r>
            <a:r>
              <a:rPr lang="en" sz="2900">
                <a:solidFill>
                  <a:schemeClr val="dk2"/>
                </a:solidFill>
              </a:rPr>
              <a:t>10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67" name="Google Shape;167;p25"/>
          <p:cNvSpPr txBox="1"/>
          <p:nvPr>
            <p:ph type="ctrTitle"/>
          </p:nvPr>
        </p:nvSpPr>
        <p:spPr>
          <a:xfrm>
            <a:off x="5046475" y="3321375"/>
            <a:ext cx="3930300" cy="12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000">
                <a:solidFill>
                  <a:schemeClr val="dk2"/>
                </a:solidFill>
              </a:rPr>
              <a:t>Find min of </a:t>
            </a:r>
            <a:r>
              <a:rPr i="1" lang="en" sz="2000">
                <a:solidFill>
                  <a:schemeClr val="dk2"/>
                </a:solidFill>
              </a:rPr>
              <a:t>min length</a:t>
            </a:r>
            <a:r>
              <a:rPr b="0" i="1" lang="en" sz="2000">
                <a:solidFill>
                  <a:schemeClr val="dk2"/>
                </a:solidFill>
              </a:rPr>
              <a:t> and </a:t>
            </a:r>
            <a:r>
              <a:rPr i="1" lang="en" sz="2000">
                <a:solidFill>
                  <a:schemeClr val="dk2"/>
                </a:solidFill>
              </a:rPr>
              <a:t>current index - start index + 1 </a:t>
            </a:r>
            <a:endParaRPr i="1" sz="2000">
              <a:solidFill>
                <a:schemeClr val="dk2"/>
              </a:solidFill>
            </a:endParaRPr>
          </a:p>
        </p:txBody>
      </p:sp>
      <p:cxnSp>
        <p:nvCxnSpPr>
          <p:cNvPr id="168" name="Google Shape;168;p25"/>
          <p:cNvCxnSpPr/>
          <p:nvPr/>
        </p:nvCxnSpPr>
        <p:spPr>
          <a:xfrm>
            <a:off x="3233681" y="3839318"/>
            <a:ext cx="1740000" cy="24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ctrTitle"/>
          </p:nvPr>
        </p:nvSpPr>
        <p:spPr>
          <a:xfrm>
            <a:off x="1041475" y="663150"/>
            <a:ext cx="7594800" cy="41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3300">
                <a:solidFill>
                  <a:schemeClr val="dk2"/>
                </a:solidFill>
              </a:rPr>
              <a:t>Time complexity </a:t>
            </a:r>
            <a:r>
              <a:rPr lang="en" sz="3300">
                <a:solidFill>
                  <a:schemeClr val="dk2"/>
                </a:solidFill>
              </a:rPr>
              <a:t>O(N)</a:t>
            </a:r>
            <a:endParaRPr sz="3300">
              <a:solidFill>
                <a:schemeClr val="dk2"/>
              </a:solidFill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b="0" lang="en" sz="1900">
                <a:solidFill>
                  <a:schemeClr val="dk2"/>
                </a:solidFill>
              </a:rPr>
              <a:t>The outer for loop runs for all elements.</a:t>
            </a:r>
            <a:endParaRPr b="0" sz="1900">
              <a:solidFill>
                <a:schemeClr val="dk2"/>
              </a:solidFill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b="0" lang="en" sz="1900">
                <a:solidFill>
                  <a:schemeClr val="dk2"/>
                </a:solidFill>
              </a:rPr>
              <a:t>Inner while loop processes each element only once</a:t>
            </a:r>
            <a:endParaRPr b="0" sz="1900">
              <a:solidFill>
                <a:schemeClr val="dk2"/>
              </a:solidFill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900"/>
              <a:buChar char="●"/>
            </a:pPr>
            <a:r>
              <a:rPr b="0" lang="en" sz="1900">
                <a:solidFill>
                  <a:schemeClr val="dk2"/>
                </a:solidFill>
              </a:rPr>
              <a:t>Time complexity of the algorithm will be O(N+N) which is asymptotically equivalent to O(N). </a:t>
            </a:r>
            <a:endParaRPr b="0" sz="19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ctrTitle"/>
          </p:nvPr>
        </p:nvSpPr>
        <p:spPr>
          <a:xfrm>
            <a:off x="1211350" y="279025"/>
            <a:ext cx="7594800" cy="345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>
                <a:solidFill>
                  <a:schemeClr val="dk2"/>
                </a:solidFill>
              </a:rPr>
              <a:t>Space complexity </a:t>
            </a:r>
            <a:r>
              <a:rPr lang="en">
                <a:solidFill>
                  <a:schemeClr val="dk2"/>
                </a:solidFill>
              </a:rPr>
              <a:t>O(1)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