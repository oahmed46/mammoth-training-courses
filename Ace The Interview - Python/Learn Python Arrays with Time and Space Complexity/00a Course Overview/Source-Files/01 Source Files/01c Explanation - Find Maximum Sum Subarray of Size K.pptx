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5E2FF7-7F5F-42E3-9850-72650D41F2EB}">
  <a:tblStyle styleId="{305E2FF7-7F5F-42E3-9850-72650D41F2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c531556375_0_59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c531556375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c2104f2ff1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c2104f2ff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c2104f2ff1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c2104f2ff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c2104f2ff1_0_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c2104f2ff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c2104f2ff1_0_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c2104f2ff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c2104f2ff1_0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c2104f2ff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c2104f2ff1_0_10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c2104f2ff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c2104f2ff1_0_1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c2104f2ff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c2104f2ff1_0_1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c2104f2ff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c2104f2ff1_0_1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c2104f2ff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c2104f2ff1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c2104f2ff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8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669575" y="1720050"/>
            <a:ext cx="52503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Maximum Sum Subarray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chemeClr val="dk2"/>
                </a:solidFill>
              </a:rPr>
              <a:t>of Size K</a:t>
            </a:r>
            <a:endParaRPr b="0"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>
            <p:ph type="ctrTitle"/>
          </p:nvPr>
        </p:nvSpPr>
        <p:spPr>
          <a:xfrm>
            <a:off x="4947900" y="2571750"/>
            <a:ext cx="4196100" cy="23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{ ? }</a:t>
            </a:r>
            <a:endParaRPr b="0" sz="1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4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{305E2FF7-7F5F-42E3-9850-72650D41F2EB}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" name="Google Shape;72;p14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k = 3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 txBox="1"/>
          <p:nvPr>
            <p:ph type="ctrTitle"/>
          </p:nvPr>
        </p:nvSpPr>
        <p:spPr>
          <a:xfrm>
            <a:off x="9525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Max sum: </a:t>
            </a:r>
            <a:r>
              <a:rPr lang="en" sz="2900">
                <a:solidFill>
                  <a:schemeClr val="dk2"/>
                </a:solidFill>
              </a:rPr>
              <a:t>0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0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Google Shape;78;p15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{305E2FF7-7F5F-42E3-9850-72650D41F2EB}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" name="Google Shape;79;p15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k = 3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 txBox="1"/>
          <p:nvPr>
            <p:ph type="ctrTitle"/>
          </p:nvPr>
        </p:nvSpPr>
        <p:spPr>
          <a:xfrm>
            <a:off x="9525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Max sum: </a:t>
            </a:r>
            <a:r>
              <a:rPr lang="en" sz="2900">
                <a:solidFill>
                  <a:schemeClr val="dk2"/>
                </a:solidFill>
              </a:rPr>
              <a:t>0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2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Google Shape;85;p16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{305E2FF7-7F5F-42E3-9850-72650D41F2EB}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6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k = 3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 txBox="1"/>
          <p:nvPr>
            <p:ph type="ctrTitle"/>
          </p:nvPr>
        </p:nvSpPr>
        <p:spPr>
          <a:xfrm>
            <a:off x="9525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Max sum: </a:t>
            </a:r>
            <a:r>
              <a:rPr lang="en" sz="2900">
                <a:solidFill>
                  <a:schemeClr val="dk2"/>
                </a:solidFill>
              </a:rPr>
              <a:t>0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8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Google Shape;92;p17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{305E2FF7-7F5F-42E3-9850-72650D41F2EB}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7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k = 3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94" name="Google Shape;94;p17"/>
          <p:cNvSpPr txBox="1"/>
          <p:nvPr>
            <p:ph type="ctrTitle"/>
          </p:nvPr>
        </p:nvSpPr>
        <p:spPr>
          <a:xfrm>
            <a:off x="952500" y="3391375"/>
            <a:ext cx="31479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Max sum: </a:t>
            </a:r>
            <a:r>
              <a:rPr lang="en" sz="2900">
                <a:solidFill>
                  <a:schemeClr val="dk2"/>
                </a:solidFill>
              </a:rPr>
              <a:t>0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51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95" name="Google Shape;95;p17"/>
          <p:cNvSpPr txBox="1"/>
          <p:nvPr>
            <p:ph type="ctrTitle"/>
          </p:nvPr>
        </p:nvSpPr>
        <p:spPr>
          <a:xfrm>
            <a:off x="5034325" y="3174700"/>
            <a:ext cx="26394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Compare </a:t>
            </a:r>
            <a:endParaRPr i="1" sz="2900">
              <a:solidFill>
                <a:schemeClr val="dk2"/>
              </a:solidFill>
            </a:endParaRPr>
          </a:p>
        </p:txBody>
      </p:sp>
      <p:cxnSp>
        <p:nvCxnSpPr>
          <p:cNvPr id="96" name="Google Shape;96;p17"/>
          <p:cNvCxnSpPr/>
          <p:nvPr/>
        </p:nvCxnSpPr>
        <p:spPr>
          <a:xfrm>
            <a:off x="3966800" y="3900075"/>
            <a:ext cx="897600" cy="4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7" name="Google Shape;97;p17"/>
          <p:cNvCxnSpPr/>
          <p:nvPr/>
        </p:nvCxnSpPr>
        <p:spPr>
          <a:xfrm flipH="1" rot="10800000">
            <a:off x="4034300" y="4009250"/>
            <a:ext cx="854400" cy="43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Google Shape;102;p18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{305E2FF7-7F5F-42E3-9850-72650D41F2EB}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" name="Google Shape;103;p18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k = 3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04" name="Google Shape;104;p18"/>
          <p:cNvSpPr txBox="1"/>
          <p:nvPr>
            <p:ph type="ctrTitle"/>
          </p:nvPr>
        </p:nvSpPr>
        <p:spPr>
          <a:xfrm>
            <a:off x="952500" y="3391375"/>
            <a:ext cx="47247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Max sum: </a:t>
            </a:r>
            <a:r>
              <a:rPr lang="en" sz="2900">
                <a:solidFill>
                  <a:schemeClr val="dk2"/>
                </a:solidFill>
              </a:rPr>
              <a:t>51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51 - 2 = 49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05" name="Google Shape;105;p18"/>
          <p:cNvSpPr txBox="1"/>
          <p:nvPr>
            <p:ph type="ctrTitle"/>
          </p:nvPr>
        </p:nvSpPr>
        <p:spPr>
          <a:xfrm>
            <a:off x="6407550" y="3503725"/>
            <a:ext cx="26394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Subtract window start</a:t>
            </a:r>
            <a:r>
              <a:rPr b="0" i="1" lang="en" sz="2900">
                <a:solidFill>
                  <a:schemeClr val="dk2"/>
                </a:solidFill>
              </a:rPr>
              <a:t> </a:t>
            </a:r>
            <a:endParaRPr i="1" sz="2900">
              <a:solidFill>
                <a:schemeClr val="dk2"/>
              </a:solidFill>
            </a:endParaRPr>
          </a:p>
        </p:txBody>
      </p:sp>
      <p:cxnSp>
        <p:nvCxnSpPr>
          <p:cNvPr id="106" name="Google Shape;106;p18"/>
          <p:cNvCxnSpPr/>
          <p:nvPr/>
        </p:nvCxnSpPr>
        <p:spPr>
          <a:xfrm flipH="1" rot="10800000">
            <a:off x="5359025" y="4009250"/>
            <a:ext cx="854400" cy="43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Google Shape;111;p19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{305E2FF7-7F5F-42E3-9850-72650D41F2EB}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" name="Google Shape;112;p19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k = 3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13" name="Google Shape;113;p19"/>
          <p:cNvSpPr txBox="1"/>
          <p:nvPr>
            <p:ph type="ctrTitle"/>
          </p:nvPr>
        </p:nvSpPr>
        <p:spPr>
          <a:xfrm>
            <a:off x="952500" y="3391375"/>
            <a:ext cx="47247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Max sum: </a:t>
            </a:r>
            <a:r>
              <a:rPr lang="en" sz="2900">
                <a:solidFill>
                  <a:schemeClr val="dk2"/>
                </a:solidFill>
              </a:rPr>
              <a:t>51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53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14" name="Google Shape;114;p19"/>
          <p:cNvSpPr txBox="1"/>
          <p:nvPr>
            <p:ph type="ctrTitle"/>
          </p:nvPr>
        </p:nvSpPr>
        <p:spPr>
          <a:xfrm>
            <a:off x="5034325" y="3174700"/>
            <a:ext cx="26394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Compare </a:t>
            </a:r>
            <a:endParaRPr i="1" sz="2900">
              <a:solidFill>
                <a:schemeClr val="dk2"/>
              </a:solidFill>
            </a:endParaRPr>
          </a:p>
        </p:txBody>
      </p:sp>
      <p:cxnSp>
        <p:nvCxnSpPr>
          <p:cNvPr id="115" name="Google Shape;115;p19"/>
          <p:cNvCxnSpPr/>
          <p:nvPr/>
        </p:nvCxnSpPr>
        <p:spPr>
          <a:xfrm>
            <a:off x="3966800" y="3900075"/>
            <a:ext cx="897600" cy="4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6" name="Google Shape;116;p19"/>
          <p:cNvCxnSpPr/>
          <p:nvPr/>
        </p:nvCxnSpPr>
        <p:spPr>
          <a:xfrm flipH="1" rot="10800000">
            <a:off x="4034300" y="4009250"/>
            <a:ext cx="854400" cy="43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Google Shape;121;p20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{305E2FF7-7F5F-42E3-9850-72650D41F2EB}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" name="Google Shape;122;p20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k = 3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23" name="Google Shape;123;p20"/>
          <p:cNvSpPr txBox="1"/>
          <p:nvPr>
            <p:ph type="ctrTitle"/>
          </p:nvPr>
        </p:nvSpPr>
        <p:spPr>
          <a:xfrm>
            <a:off x="952500" y="3391375"/>
            <a:ext cx="47247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Max sum: </a:t>
            </a:r>
            <a:r>
              <a:rPr lang="en" sz="2900">
                <a:solidFill>
                  <a:schemeClr val="dk2"/>
                </a:solidFill>
              </a:rPr>
              <a:t>53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53 - 6 = 47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24" name="Google Shape;124;p20"/>
          <p:cNvSpPr txBox="1"/>
          <p:nvPr>
            <p:ph type="ctrTitle"/>
          </p:nvPr>
        </p:nvSpPr>
        <p:spPr>
          <a:xfrm>
            <a:off x="6407550" y="3503725"/>
            <a:ext cx="26394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Subtract window start </a:t>
            </a:r>
            <a:endParaRPr i="1" sz="2900">
              <a:solidFill>
                <a:schemeClr val="dk2"/>
              </a:solidFill>
            </a:endParaRPr>
          </a:p>
        </p:txBody>
      </p:sp>
      <p:cxnSp>
        <p:nvCxnSpPr>
          <p:cNvPr id="125" name="Google Shape;125;p20"/>
          <p:cNvCxnSpPr/>
          <p:nvPr/>
        </p:nvCxnSpPr>
        <p:spPr>
          <a:xfrm flipH="1" rot="10800000">
            <a:off x="5359025" y="4009250"/>
            <a:ext cx="854400" cy="43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Google Shape;130;p21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{305E2FF7-7F5F-42E3-9850-72650D41F2EB}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p21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k = 3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32" name="Google Shape;132;p21"/>
          <p:cNvSpPr txBox="1"/>
          <p:nvPr>
            <p:ph type="ctrTitle"/>
          </p:nvPr>
        </p:nvSpPr>
        <p:spPr>
          <a:xfrm>
            <a:off x="952500" y="3391375"/>
            <a:ext cx="47247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Max sum: </a:t>
            </a:r>
            <a:r>
              <a:rPr lang="en" sz="2900">
                <a:solidFill>
                  <a:schemeClr val="dk2"/>
                </a:solidFill>
              </a:rPr>
              <a:t>53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47 + 5 = 52 </a:t>
            </a:r>
            <a:r>
              <a:rPr lang="en" sz="2900">
                <a:solidFill>
                  <a:schemeClr val="dk2"/>
                </a:solidFill>
              </a:rPr>
              <a:t> 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2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{305E2FF7-7F5F-42E3-9850-72650D41F2EB}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22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k = 3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39" name="Google Shape;139;p22"/>
          <p:cNvSpPr txBox="1"/>
          <p:nvPr>
            <p:ph type="ctrTitle"/>
          </p:nvPr>
        </p:nvSpPr>
        <p:spPr>
          <a:xfrm>
            <a:off x="952500" y="3391375"/>
            <a:ext cx="47247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Max sum: </a:t>
            </a:r>
            <a:r>
              <a:rPr lang="en" sz="2900">
                <a:solidFill>
                  <a:schemeClr val="dk2"/>
                </a:solidFill>
              </a:rPr>
              <a:t>53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</a:t>
            </a:r>
            <a:r>
              <a:rPr lang="en" sz="2900">
                <a:solidFill>
                  <a:schemeClr val="dk2"/>
                </a:solidFill>
              </a:rPr>
              <a:t> 52  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40" name="Google Shape;140;p22"/>
          <p:cNvSpPr txBox="1"/>
          <p:nvPr>
            <p:ph type="ctrTitle"/>
          </p:nvPr>
        </p:nvSpPr>
        <p:spPr>
          <a:xfrm>
            <a:off x="5034325" y="3174700"/>
            <a:ext cx="26394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Compare </a:t>
            </a:r>
            <a:endParaRPr i="1" sz="2900">
              <a:solidFill>
                <a:schemeClr val="dk2"/>
              </a:solidFill>
            </a:endParaRPr>
          </a:p>
        </p:txBody>
      </p:sp>
      <p:cxnSp>
        <p:nvCxnSpPr>
          <p:cNvPr id="141" name="Google Shape;141;p22"/>
          <p:cNvCxnSpPr/>
          <p:nvPr/>
        </p:nvCxnSpPr>
        <p:spPr>
          <a:xfrm>
            <a:off x="3966800" y="3900075"/>
            <a:ext cx="897600" cy="4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2" name="Google Shape;142;p22"/>
          <p:cNvCxnSpPr/>
          <p:nvPr/>
        </p:nvCxnSpPr>
        <p:spPr>
          <a:xfrm flipH="1" rot="10800000">
            <a:off x="4034300" y="4009250"/>
            <a:ext cx="854400" cy="43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ctrTitle"/>
          </p:nvPr>
        </p:nvSpPr>
        <p:spPr>
          <a:xfrm>
            <a:off x="1065775" y="545900"/>
            <a:ext cx="7594800" cy="41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2"/>
                </a:solidFill>
              </a:rPr>
              <a:t>Time complexity </a:t>
            </a:r>
            <a:r>
              <a:rPr lang="en">
                <a:solidFill>
                  <a:schemeClr val="dk2"/>
                </a:solidFill>
              </a:rPr>
              <a:t>O(N)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>
                <a:solidFill>
                  <a:schemeClr val="dk2"/>
                </a:solidFill>
              </a:rPr>
              <a:t>S</a:t>
            </a:r>
            <a:r>
              <a:rPr b="0" lang="en">
                <a:solidFill>
                  <a:schemeClr val="dk2"/>
                </a:solidFill>
              </a:rPr>
              <a:t>pace complexity </a:t>
            </a:r>
            <a:r>
              <a:rPr lang="en">
                <a:solidFill>
                  <a:schemeClr val="dk2"/>
                </a:solidFill>
              </a:rPr>
              <a:t>O(1)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