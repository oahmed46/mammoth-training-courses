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240BC8-5CC9-489B-A655-0EFEFBBC93B3}">
  <a:tblStyle styleId="{16240BC8-5CC9-489B-A655-0EFEFBBC93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531556375_0_6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531556375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2104f2ff1_0_3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2104f2ff1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c2104f2ff1_0_3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c2104f2ff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c2104f2ff1_0_3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c2104f2ff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c2104f2ff1_0_3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c2104f2ff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c2104f2ff1_0_3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c2104f2ff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c2104f2ff1_0_3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c2104f2ff1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c2104f2ff1_0_3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c2104f2ff1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56345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Find Pair </a:t>
            </a:r>
            <a:endParaRPr sz="3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chemeClr val="dk2"/>
                </a:solidFill>
              </a:rPr>
              <a:t>with Target Sum</a:t>
            </a:r>
            <a:endParaRPr b="0" i="1" sz="26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4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{16240BC8-5CC9-489B-A655-0EFEFBBC93B3}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ctrTitle"/>
          </p:nvPr>
        </p:nvSpPr>
        <p:spPr>
          <a:xfrm>
            <a:off x="3716750" y="454150"/>
            <a:ext cx="23850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target=6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Current sum</a:t>
            </a:r>
            <a:r>
              <a:rPr b="0" lang="en" sz="2900">
                <a:solidFill>
                  <a:schemeClr val="dk2"/>
                </a:solidFill>
              </a:rPr>
              <a:t>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Left</a:t>
            </a:r>
            <a:r>
              <a:rPr b="0" lang="en" sz="2900">
                <a:solidFill>
                  <a:schemeClr val="dk2"/>
                </a:solidFill>
              </a:rPr>
              <a:t>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Right: </a:t>
            </a:r>
            <a:r>
              <a:rPr lang="en" sz="2900">
                <a:solidFill>
                  <a:schemeClr val="dk2"/>
                </a:solidFill>
              </a:rPr>
              <a:t>4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Google Shape;78;p15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{16240BC8-5CC9-489B-A655-0EFEFBBC93B3}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15"/>
          <p:cNvSpPr txBox="1"/>
          <p:nvPr>
            <p:ph type="ctrTitle"/>
          </p:nvPr>
        </p:nvSpPr>
        <p:spPr>
          <a:xfrm>
            <a:off x="3716750" y="454150"/>
            <a:ext cx="23850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target=6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800100" y="2852150"/>
            <a:ext cx="4343400" cy="19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Current sum: </a:t>
            </a:r>
            <a:r>
              <a:rPr lang="en" sz="2900">
                <a:solidFill>
                  <a:schemeClr val="dk2"/>
                </a:solidFill>
              </a:rPr>
              <a:t>7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Left: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Right: </a:t>
            </a:r>
            <a:r>
              <a:rPr lang="en" sz="2900">
                <a:solidFill>
                  <a:schemeClr val="dk2"/>
                </a:solidFill>
              </a:rPr>
              <a:t>4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>
            <p:ph type="ctrTitle"/>
          </p:nvPr>
        </p:nvSpPr>
        <p:spPr>
          <a:xfrm>
            <a:off x="5589075" y="3323475"/>
            <a:ext cx="25563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600">
                <a:solidFill>
                  <a:schemeClr val="dk2"/>
                </a:solidFill>
              </a:rPr>
              <a:t>Check if </a:t>
            </a:r>
            <a:r>
              <a:rPr i="1" lang="en" sz="2600">
                <a:solidFill>
                  <a:schemeClr val="dk2"/>
                </a:solidFill>
              </a:rPr>
              <a:t>current sum == target</a:t>
            </a:r>
            <a:endParaRPr i="1" sz="2600">
              <a:solidFill>
                <a:schemeClr val="dk2"/>
              </a:solidFill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3664606" y="3299168"/>
            <a:ext cx="1740000" cy="2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6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{16240BC8-5CC9-489B-A655-0EFEFBBC93B3}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16"/>
          <p:cNvSpPr txBox="1"/>
          <p:nvPr>
            <p:ph type="ctrTitle"/>
          </p:nvPr>
        </p:nvSpPr>
        <p:spPr>
          <a:xfrm>
            <a:off x="3716750" y="454150"/>
            <a:ext cx="23850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target=6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>
            <p:ph type="ctrTitle"/>
          </p:nvPr>
        </p:nvSpPr>
        <p:spPr>
          <a:xfrm>
            <a:off x="800100" y="2852150"/>
            <a:ext cx="4343400" cy="19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Current sum: </a:t>
            </a:r>
            <a:r>
              <a:rPr lang="en" sz="2900">
                <a:solidFill>
                  <a:schemeClr val="dk2"/>
                </a:solidFill>
              </a:rPr>
              <a:t>7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Left: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Right: </a:t>
            </a:r>
            <a:r>
              <a:rPr lang="en" sz="2900">
                <a:solidFill>
                  <a:schemeClr val="dk2"/>
                </a:solidFill>
              </a:rPr>
              <a:t>4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90" name="Google Shape;90;p16"/>
          <p:cNvSpPr txBox="1"/>
          <p:nvPr>
            <p:ph type="ctrTitle"/>
          </p:nvPr>
        </p:nvSpPr>
        <p:spPr>
          <a:xfrm>
            <a:off x="4682350" y="3151275"/>
            <a:ext cx="37602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chemeClr val="dk2"/>
                </a:solidFill>
              </a:rPr>
              <a:t>If sum is too small,</a:t>
            </a:r>
            <a:r>
              <a:rPr b="0" i="1" lang="en" sz="2200">
                <a:solidFill>
                  <a:schemeClr val="dk2"/>
                </a:solidFill>
              </a:rPr>
              <a:t> go right.</a:t>
            </a:r>
            <a:endParaRPr b="0" i="1"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2200">
                <a:solidFill>
                  <a:schemeClr val="dk2"/>
                </a:solidFill>
              </a:rPr>
              <a:t>If sum is too large, </a:t>
            </a:r>
            <a:r>
              <a:rPr b="0" i="1" lang="en" sz="2200">
                <a:solidFill>
                  <a:schemeClr val="dk2"/>
                </a:solidFill>
              </a:rPr>
              <a:t>go left.</a:t>
            </a:r>
            <a:endParaRPr b="0" i="1" sz="2200">
              <a:solidFill>
                <a:schemeClr val="dk2"/>
              </a:solidFill>
            </a:endParaRPr>
          </a:p>
        </p:txBody>
      </p:sp>
      <p:cxnSp>
        <p:nvCxnSpPr>
          <p:cNvPr id="91" name="Google Shape;91;p16"/>
          <p:cNvCxnSpPr/>
          <p:nvPr/>
        </p:nvCxnSpPr>
        <p:spPr>
          <a:xfrm>
            <a:off x="3664606" y="3299168"/>
            <a:ext cx="816600" cy="52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17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{16240BC8-5CC9-489B-A655-0EFEFBBC93B3}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7"/>
          <p:cNvSpPr txBox="1"/>
          <p:nvPr>
            <p:ph type="ctrTitle"/>
          </p:nvPr>
        </p:nvSpPr>
        <p:spPr>
          <a:xfrm>
            <a:off x="3716750" y="454150"/>
            <a:ext cx="23850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target=6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>
            <p:ph type="ctrTitle"/>
          </p:nvPr>
        </p:nvSpPr>
        <p:spPr>
          <a:xfrm>
            <a:off x="800100" y="2852150"/>
            <a:ext cx="4343400" cy="19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Current sum: </a:t>
            </a:r>
            <a:r>
              <a:rPr lang="en" sz="2900">
                <a:solidFill>
                  <a:schemeClr val="dk2"/>
                </a:solidFill>
              </a:rPr>
              <a:t>5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Left: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Right: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>
            <p:ph type="ctrTitle"/>
          </p:nvPr>
        </p:nvSpPr>
        <p:spPr>
          <a:xfrm>
            <a:off x="5589075" y="3323475"/>
            <a:ext cx="25563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600">
                <a:solidFill>
                  <a:schemeClr val="dk2"/>
                </a:solidFill>
              </a:rPr>
              <a:t>Check if </a:t>
            </a:r>
            <a:r>
              <a:rPr i="1" lang="en" sz="2600">
                <a:solidFill>
                  <a:schemeClr val="dk2"/>
                </a:solidFill>
              </a:rPr>
              <a:t>current sum == target</a:t>
            </a:r>
            <a:endParaRPr i="1" sz="2600">
              <a:solidFill>
                <a:schemeClr val="dk2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3664606" y="3299168"/>
            <a:ext cx="1740000" cy="2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18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{16240BC8-5CC9-489B-A655-0EFEFBBC93B3}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18"/>
          <p:cNvSpPr txBox="1"/>
          <p:nvPr>
            <p:ph type="ctrTitle"/>
          </p:nvPr>
        </p:nvSpPr>
        <p:spPr>
          <a:xfrm>
            <a:off x="3716750" y="454150"/>
            <a:ext cx="23850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target=6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07" name="Google Shape;107;p18"/>
          <p:cNvSpPr txBox="1"/>
          <p:nvPr>
            <p:ph type="ctrTitle"/>
          </p:nvPr>
        </p:nvSpPr>
        <p:spPr>
          <a:xfrm>
            <a:off x="800100" y="2852150"/>
            <a:ext cx="4343400" cy="19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Current sum: </a:t>
            </a:r>
            <a:r>
              <a:rPr lang="en" sz="2900">
                <a:solidFill>
                  <a:schemeClr val="dk2"/>
                </a:solidFill>
              </a:rPr>
              <a:t>5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Left: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Right: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08" name="Google Shape;108;p18"/>
          <p:cNvSpPr txBox="1"/>
          <p:nvPr>
            <p:ph type="ctrTitle"/>
          </p:nvPr>
        </p:nvSpPr>
        <p:spPr>
          <a:xfrm>
            <a:off x="4682350" y="3151275"/>
            <a:ext cx="37602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chemeClr val="dk2"/>
                </a:solidFill>
              </a:rPr>
              <a:t>If sum is too small,</a:t>
            </a:r>
            <a:r>
              <a:rPr b="0" i="1" lang="en" sz="2200">
                <a:solidFill>
                  <a:schemeClr val="dk2"/>
                </a:solidFill>
              </a:rPr>
              <a:t> go right.</a:t>
            </a:r>
            <a:endParaRPr b="0" i="1"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2200">
                <a:solidFill>
                  <a:schemeClr val="dk2"/>
                </a:solidFill>
              </a:rPr>
              <a:t>If sum is too large, </a:t>
            </a:r>
            <a:r>
              <a:rPr b="0" i="1" lang="en" sz="2200">
                <a:solidFill>
                  <a:schemeClr val="dk2"/>
                </a:solidFill>
              </a:rPr>
              <a:t>go left.</a:t>
            </a:r>
            <a:endParaRPr b="0" i="1" sz="2200">
              <a:solidFill>
                <a:schemeClr val="dk2"/>
              </a:solidFill>
            </a:endParaRPr>
          </a:p>
        </p:txBody>
      </p:sp>
      <p:cxnSp>
        <p:nvCxnSpPr>
          <p:cNvPr id="109" name="Google Shape;109;p18"/>
          <p:cNvCxnSpPr/>
          <p:nvPr/>
        </p:nvCxnSpPr>
        <p:spPr>
          <a:xfrm>
            <a:off x="3664606" y="3299168"/>
            <a:ext cx="816600" cy="52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19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{16240BC8-5CC9-489B-A655-0EFEFBBC93B3}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9"/>
          <p:cNvSpPr txBox="1"/>
          <p:nvPr>
            <p:ph type="ctrTitle"/>
          </p:nvPr>
        </p:nvSpPr>
        <p:spPr>
          <a:xfrm>
            <a:off x="3716750" y="454150"/>
            <a:ext cx="23850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target=6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16" name="Google Shape;116;p19"/>
          <p:cNvSpPr txBox="1"/>
          <p:nvPr>
            <p:ph type="ctrTitle"/>
          </p:nvPr>
        </p:nvSpPr>
        <p:spPr>
          <a:xfrm>
            <a:off x="800100" y="2852150"/>
            <a:ext cx="4343400" cy="19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Current sum: </a:t>
            </a:r>
            <a:r>
              <a:rPr lang="en" sz="2900">
                <a:solidFill>
                  <a:schemeClr val="dk2"/>
                </a:solidFill>
              </a:rPr>
              <a:t>6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Left: </a:t>
            </a:r>
            <a:r>
              <a:rPr lang="en" sz="2900">
                <a:solidFill>
                  <a:schemeClr val="dk2"/>
                </a:solidFill>
              </a:rPr>
              <a:t>1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Right: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ctrTitle"/>
          </p:nvPr>
        </p:nvSpPr>
        <p:spPr>
          <a:xfrm>
            <a:off x="1065775" y="54590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Time complexity </a:t>
            </a:r>
            <a:r>
              <a:rPr lang="en">
                <a:solidFill>
                  <a:schemeClr val="dk2"/>
                </a:solidFill>
              </a:rPr>
              <a:t>O(N)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Space complexity </a:t>
            </a:r>
            <a:r>
              <a:rPr lang="en">
                <a:solidFill>
                  <a:schemeClr val="dk2"/>
                </a:solidFill>
              </a:rPr>
              <a:t>O(1)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