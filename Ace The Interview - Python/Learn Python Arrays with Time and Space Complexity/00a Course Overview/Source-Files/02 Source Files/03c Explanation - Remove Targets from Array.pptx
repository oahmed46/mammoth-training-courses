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Raleway"/>
      <p:regular r:id="rId19"/>
      <p:bold r:id="rId20"/>
      <p:italic r:id="rId21"/>
      <p:boldItalic r:id="rId22"/>
    </p:embeddedFont>
    <p:embeddedFont>
      <p:font typeface="Robot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7459D02-2118-4580-A71A-9AE61F42BF59}">
  <a:tblStyle styleId="{97459D02-2118-4580-A71A-9AE61F42BF5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.fntdata"/><Relationship Id="rId22" Type="http://schemas.openxmlformats.org/officeDocument/2006/relationships/font" Target="fonts/Raleway-boldItalic.fntdata"/><Relationship Id="rId21" Type="http://schemas.openxmlformats.org/officeDocument/2006/relationships/font" Target="fonts/Raleway-italic.fntdata"/><Relationship Id="rId24" Type="http://schemas.openxmlformats.org/officeDocument/2006/relationships/font" Target="fonts/Roboto-bold.fntdata"/><Relationship Id="rId23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Roboto-boldItalic.fntdata"/><Relationship Id="rId25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aleway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c531556375_0_6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c531556375_0_6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bd300107c3_0_9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bd300107c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bd300107c3_0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bd300107c3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bd300107c3_0_10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bd300107c3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bd300107c3_0_11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bd300107c3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1bd300107c3_0_11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1bd300107c3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1bd300107c3_0_1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1bd300107c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bd300107c3_0_13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bd300107c3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bd300107c3_0_1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bd300107c3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bd300107c3_0_14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bd300107c3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1bd300107c3_0_1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1bd300107c3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1bd300107c3_0_16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1bd300107c3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95450" y="1819850"/>
            <a:ext cx="8153100" cy="267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b="1" sz="4800"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rgbClr val="FFF8E7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/>
          <p:nvPr/>
        </p:nvSpPr>
        <p:spPr>
          <a:xfrm flipH="1">
            <a:off x="0" y="14925"/>
            <a:ext cx="9144000" cy="51435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3"/>
          <p:cNvSpPr txBox="1"/>
          <p:nvPr>
            <p:ph type="ctrTitle"/>
          </p:nvPr>
        </p:nvSpPr>
        <p:spPr>
          <a:xfrm>
            <a:off x="669575" y="1641625"/>
            <a:ext cx="5250300" cy="100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>
                <a:solidFill>
                  <a:schemeClr val="dk2"/>
                </a:solidFill>
              </a:rPr>
              <a:t>Remove Targets </a:t>
            </a:r>
            <a:endParaRPr b="0" sz="3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3900">
                <a:solidFill>
                  <a:schemeClr val="dk2"/>
                </a:solidFill>
              </a:rPr>
              <a:t>from Array</a:t>
            </a:r>
            <a:endParaRPr b="0" i="1" sz="2900">
              <a:solidFill>
                <a:schemeClr val="dk2"/>
              </a:solidFill>
            </a:endParaRPr>
          </a:p>
        </p:txBody>
      </p:sp>
      <p:sp>
        <p:nvSpPr>
          <p:cNvPr id="66" name="Google Shape;66;p13"/>
          <p:cNvSpPr txBox="1"/>
          <p:nvPr>
            <p:ph type="ctrTitle"/>
          </p:nvPr>
        </p:nvSpPr>
        <p:spPr>
          <a:xfrm>
            <a:off x="4947900" y="2571750"/>
            <a:ext cx="4196100" cy="2384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{ ? }</a:t>
            </a:r>
            <a:endParaRPr b="0" sz="17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1" name="Google Shape;71;p14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{97459D02-2118-4580-A71A-9AE61F42BF59}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2" name="Google Shape;72;p14"/>
          <p:cNvSpPr txBox="1"/>
          <p:nvPr>
            <p:ph type="ctrTitle"/>
          </p:nvPr>
        </p:nvSpPr>
        <p:spPr>
          <a:xfrm>
            <a:off x="3689575" y="422850"/>
            <a:ext cx="25014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</a:t>
            </a:r>
            <a:r>
              <a:rPr lang="en" sz="2500">
                <a:solidFill>
                  <a:schemeClr val="dk2"/>
                </a:solidFill>
              </a:rPr>
              <a:t>arget = 6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73" name="Google Shape;73;p14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0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</a:t>
            </a:r>
            <a:r>
              <a:rPr b="0" lang="en" sz="2900">
                <a:solidFill>
                  <a:schemeClr val="dk2"/>
                </a:solidFill>
              </a:rPr>
              <a:t> </a:t>
            </a:r>
            <a:r>
              <a:rPr lang="en" sz="2900">
                <a:solidFill>
                  <a:schemeClr val="dk2"/>
                </a:solidFill>
              </a:rPr>
              <a:t>current element != target</a:t>
            </a:r>
            <a:endParaRPr sz="29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8" name="Google Shape;78;p15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{97459D02-2118-4580-A71A-9AE61F42BF59}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9" name="Google Shape;79;p15"/>
          <p:cNvSpPr txBox="1"/>
          <p:nvPr>
            <p:ph type="ctrTitle"/>
          </p:nvPr>
        </p:nvSpPr>
        <p:spPr>
          <a:xfrm>
            <a:off x="3689575" y="422850"/>
            <a:ext cx="25014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target = 6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0" name="Google Shape;80;p15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1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Increment next element index</a:t>
            </a:r>
            <a:endParaRPr sz="29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5" name="Google Shape;85;p16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{97459D02-2118-4580-A71A-9AE61F42BF59}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" name="Google Shape;86;p16"/>
          <p:cNvSpPr txBox="1"/>
          <p:nvPr>
            <p:ph type="ctrTitle"/>
          </p:nvPr>
        </p:nvSpPr>
        <p:spPr>
          <a:xfrm>
            <a:off x="3689575" y="422850"/>
            <a:ext cx="25014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target = 6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1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</a:t>
            </a:r>
            <a:r>
              <a:rPr b="0" lang="en" sz="2900">
                <a:solidFill>
                  <a:schemeClr val="dk2"/>
                </a:solidFill>
              </a:rPr>
              <a:t> </a:t>
            </a:r>
            <a:r>
              <a:rPr lang="en" sz="2900">
                <a:solidFill>
                  <a:schemeClr val="dk2"/>
                </a:solidFill>
              </a:rPr>
              <a:t>current element != target</a:t>
            </a:r>
            <a:endParaRPr sz="29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2" name="Google Shape;92;p17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{97459D02-2118-4580-A71A-9AE61F42BF59}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" name="Google Shape;93;p17"/>
          <p:cNvSpPr txBox="1"/>
          <p:nvPr>
            <p:ph type="ctrTitle"/>
          </p:nvPr>
        </p:nvSpPr>
        <p:spPr>
          <a:xfrm>
            <a:off x="3689575" y="422850"/>
            <a:ext cx="25014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target = 6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94" name="Google Shape;94;p17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Increment next element index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Google Shape;99;p18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{97459D02-2118-4580-A71A-9AE61F42BF59}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" name="Google Shape;100;p18"/>
          <p:cNvSpPr txBox="1"/>
          <p:nvPr>
            <p:ph type="ctrTitle"/>
          </p:nvPr>
        </p:nvSpPr>
        <p:spPr>
          <a:xfrm>
            <a:off x="3689575" y="422850"/>
            <a:ext cx="25014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target = 6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1" name="Google Shape;101;p18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2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</a:t>
            </a:r>
            <a:r>
              <a:rPr b="0" lang="en" sz="2900">
                <a:solidFill>
                  <a:schemeClr val="dk2"/>
                </a:solidFill>
              </a:rPr>
              <a:t> </a:t>
            </a:r>
            <a:r>
              <a:rPr lang="en" sz="2900">
                <a:solidFill>
                  <a:schemeClr val="dk2"/>
                </a:solidFill>
              </a:rPr>
              <a:t>current element != target</a:t>
            </a:r>
            <a:endParaRPr sz="2900" u="sng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6" name="Google Shape;106;p19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{97459D02-2118-4580-A71A-9AE61F42BF59}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" name="Google Shape;107;p19"/>
          <p:cNvSpPr txBox="1"/>
          <p:nvPr>
            <p:ph type="ctrTitle"/>
          </p:nvPr>
        </p:nvSpPr>
        <p:spPr>
          <a:xfrm>
            <a:off x="3689575" y="422850"/>
            <a:ext cx="25014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target = 6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08" name="Google Shape;108;p19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Increment next element index 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3" name="Google Shape;113;p20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{97459D02-2118-4580-A71A-9AE61F42BF59}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" name="Google Shape;114;p20"/>
          <p:cNvSpPr txBox="1"/>
          <p:nvPr>
            <p:ph type="ctrTitle"/>
          </p:nvPr>
        </p:nvSpPr>
        <p:spPr>
          <a:xfrm>
            <a:off x="3689575" y="422850"/>
            <a:ext cx="25014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target = 6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15" name="Google Shape;115;p20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</a:t>
            </a:r>
            <a:r>
              <a:rPr b="0" lang="en" sz="2900">
                <a:solidFill>
                  <a:schemeClr val="dk2"/>
                </a:solidFill>
              </a:rPr>
              <a:t> </a:t>
            </a:r>
            <a:r>
              <a:rPr lang="en" sz="2900">
                <a:solidFill>
                  <a:schemeClr val="dk2"/>
                </a:solidFill>
              </a:rPr>
              <a:t>current element != target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21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{97459D02-2118-4580-A71A-9AE61F42BF59}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</a:tr>
            </a:tbl>
          </a:graphicData>
        </a:graphic>
      </p:graphicFrame>
      <p:sp>
        <p:nvSpPr>
          <p:cNvPr id="121" name="Google Shape;121;p21"/>
          <p:cNvSpPr txBox="1"/>
          <p:nvPr>
            <p:ph type="ctrTitle"/>
          </p:nvPr>
        </p:nvSpPr>
        <p:spPr>
          <a:xfrm>
            <a:off x="3689575" y="422850"/>
            <a:ext cx="25014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target = 6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2" name="Google Shape;122;p21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3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Check if</a:t>
            </a:r>
            <a:r>
              <a:rPr b="0" lang="en" sz="2900">
                <a:solidFill>
                  <a:schemeClr val="dk2"/>
                </a:solidFill>
              </a:rPr>
              <a:t> </a:t>
            </a:r>
            <a:r>
              <a:rPr lang="en" sz="2900">
                <a:solidFill>
                  <a:schemeClr val="dk2"/>
                </a:solidFill>
              </a:rPr>
              <a:t>current element != target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7" name="Google Shape;127;p22"/>
          <p:cNvGraphicFramePr/>
          <p:nvPr/>
        </p:nvGraphicFramePr>
        <p:xfrm>
          <a:off x="952500" y="1435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{97459D02-2118-4580-A71A-9AE61F42BF59}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12059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2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5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6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3000"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8</a:t>
                      </a:r>
                      <a:endParaRPr b="1" sz="3000">
                        <a:latin typeface="Raleway"/>
                        <a:ea typeface="Raleway"/>
                        <a:cs typeface="Raleway"/>
                        <a:sym typeface="Raleway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6611"/>
                    </a:solidFill>
                  </a:tcPr>
                </a:tc>
              </a:tr>
            </a:tbl>
          </a:graphicData>
        </a:graphic>
      </p:graphicFrame>
      <p:sp>
        <p:nvSpPr>
          <p:cNvPr id="128" name="Google Shape;128;p22"/>
          <p:cNvSpPr txBox="1"/>
          <p:nvPr>
            <p:ph type="ctrTitle"/>
          </p:nvPr>
        </p:nvSpPr>
        <p:spPr>
          <a:xfrm>
            <a:off x="3689575" y="422850"/>
            <a:ext cx="25014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2500">
                <a:solidFill>
                  <a:schemeClr val="dk2"/>
                </a:solidFill>
              </a:rPr>
              <a:t>target = 6</a:t>
            </a:r>
            <a:endParaRPr sz="2500">
              <a:solidFill>
                <a:schemeClr val="dk2"/>
              </a:solidFill>
            </a:endParaRPr>
          </a:p>
        </p:txBody>
      </p:sp>
      <p:sp>
        <p:nvSpPr>
          <p:cNvPr id="129" name="Google Shape;129;p22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4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Increment next element index 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ctrTitle"/>
          </p:nvPr>
        </p:nvSpPr>
        <p:spPr>
          <a:xfrm>
            <a:off x="858700" y="4071350"/>
            <a:ext cx="7708500" cy="77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 sz="2900">
                <a:solidFill>
                  <a:schemeClr val="dk2"/>
                </a:solidFill>
              </a:rPr>
              <a:t>Next element index: </a:t>
            </a:r>
            <a:r>
              <a:rPr lang="en" sz="2900">
                <a:solidFill>
                  <a:schemeClr val="dk2"/>
                </a:solidFill>
              </a:rPr>
              <a:t>4</a:t>
            </a:r>
            <a:endParaRPr sz="29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i="1" lang="en" sz="2900">
                <a:solidFill>
                  <a:schemeClr val="dk2"/>
                </a:solidFill>
              </a:rPr>
              <a:t> </a:t>
            </a:r>
            <a:endParaRPr b="0" i="1" sz="2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ctrTitle"/>
          </p:nvPr>
        </p:nvSpPr>
        <p:spPr>
          <a:xfrm>
            <a:off x="1065775" y="545900"/>
            <a:ext cx="7594800" cy="418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Time complexity </a:t>
            </a:r>
            <a:r>
              <a:rPr lang="en">
                <a:solidFill>
                  <a:schemeClr val="dk2"/>
                </a:solidFill>
              </a:rPr>
              <a:t>O(N)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2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b="0" lang="en">
                <a:solidFill>
                  <a:schemeClr val="dk2"/>
                </a:solidFill>
              </a:rPr>
              <a:t>Space complexity </a:t>
            </a:r>
            <a:r>
              <a:rPr lang="en">
                <a:solidFill>
                  <a:schemeClr val="dk2"/>
                </a:solidFill>
              </a:rPr>
              <a:t>O(1)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