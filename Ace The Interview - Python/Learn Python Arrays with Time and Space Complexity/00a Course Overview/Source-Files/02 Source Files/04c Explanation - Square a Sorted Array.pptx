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240EC3-65BD-4C9E-983E-030317280A6C}">
  <a:tblStyle styleId="{50240EC3-65BD-4C9E-983E-030317280A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531556375_0_6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531556375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d300107c3_0_1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d300107c3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bd300107c3_0_1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bd300107c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bd300107c3_0_1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bd300107c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bd300107c3_0_2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bd300107c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bd300107c3_0_2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bd300107c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bd300107c3_0_2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bd300107c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bd300107c3_0_2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bd300107c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bd300107c3_0_2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bd300107c3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bd300107c3_0_2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bd300107c3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bd300107c3_0_2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bd300107c3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bd300107c3_0_2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bd300107c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bd300107c3_0_2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bd300107c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bd300107c3_0_2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bd300107c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bd300107c3_0_2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bd300107c3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bd300107c3_0_2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bd300107c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bd300107c3_0_2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bd300107c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bd300107c3_0_3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bd300107c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d300107c3_0_3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bd300107c3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bd300107c3_0_3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bd300107c3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810300" y="1829200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2"/>
                </a:solidFill>
              </a:rPr>
              <a:t>Square</a:t>
            </a:r>
            <a:r>
              <a:rPr b="0" lang="en" sz="4300">
                <a:solidFill>
                  <a:schemeClr val="dk2"/>
                </a:solidFill>
              </a:rPr>
              <a:t> a Sorted Array</a:t>
            </a:r>
            <a:endParaRPr b="0" i="1" sz="33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4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4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</a:t>
            </a:r>
            <a:r>
              <a:rPr b="0" lang="en" sz="2400">
                <a:solidFill>
                  <a:schemeClr val="dk2"/>
                </a:solidFill>
              </a:rPr>
              <a:t>Right index: </a:t>
            </a:r>
            <a:r>
              <a:rPr lang="en" sz="2400">
                <a:solidFill>
                  <a:schemeClr val="dk2"/>
                </a:solidFill>
              </a:rPr>
              <a:t>4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0			</a:t>
            </a:r>
            <a:r>
              <a:rPr b="0" lang="en" sz="2400">
                <a:solidFill>
                  <a:schemeClr val="dk2"/>
                </a:solidFill>
              </a:rPr>
              <a:t>	     Right square:</a:t>
            </a:r>
            <a:r>
              <a:rPr lang="en" sz="2400">
                <a:solidFill>
                  <a:schemeClr val="dk2"/>
                </a:solidFill>
              </a:rPr>
              <a:t> 0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74" name="Google Shape;74;p14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5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" name="Google Shape;80;p15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4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4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1</a:t>
            </a:r>
            <a:r>
              <a:rPr lang="en" sz="2400">
                <a:solidFill>
                  <a:schemeClr val="dk2"/>
                </a:solidFill>
              </a:rPr>
              <a:t>			</a:t>
            </a:r>
            <a:r>
              <a:rPr b="0" lang="en" sz="2400">
                <a:solidFill>
                  <a:schemeClr val="dk2"/>
                </a:solidFill>
              </a:rPr>
              <a:t>	     Right square:</a:t>
            </a:r>
            <a:r>
              <a:rPr lang="en" sz="2400">
                <a:solidFill>
                  <a:schemeClr val="dk2"/>
                </a:solidFill>
              </a:rPr>
              <a:t> 0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82" name="Google Shape;82;p15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6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16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4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4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1			</a:t>
            </a:r>
            <a:r>
              <a:rPr b="0" lang="en" sz="2400">
                <a:solidFill>
                  <a:schemeClr val="dk2"/>
                </a:solidFill>
              </a:rPr>
              <a:t>	   Right square:</a:t>
            </a:r>
            <a:r>
              <a:rPr lang="en" sz="2400">
                <a:solidFill>
                  <a:schemeClr val="dk2"/>
                </a:solidFill>
              </a:rPr>
              <a:t> 49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90" name="Google Shape;90;p16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17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7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4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7" name="Google Shape;97;p17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Put </a:t>
            </a:r>
            <a:r>
              <a:rPr b="0" lang="en" sz="2400" u="sng">
                <a:solidFill>
                  <a:schemeClr val="dk2"/>
                </a:solidFill>
              </a:rPr>
              <a:t>larger square</a:t>
            </a:r>
            <a:r>
              <a:rPr b="0" lang="en" sz="2400">
                <a:solidFill>
                  <a:schemeClr val="dk2"/>
                </a:solidFill>
              </a:rPr>
              <a:t> into </a:t>
            </a:r>
            <a:r>
              <a:rPr lang="en" sz="2400">
                <a:solidFill>
                  <a:schemeClr val="dk2"/>
                </a:solidFill>
              </a:rPr>
              <a:t>highest square index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1			</a:t>
            </a:r>
            <a:r>
              <a:rPr b="0" lang="en" sz="2400">
                <a:solidFill>
                  <a:schemeClr val="dk2"/>
                </a:solidFill>
              </a:rPr>
              <a:t>	   Right square:</a:t>
            </a:r>
            <a:r>
              <a:rPr lang="en" sz="2400">
                <a:solidFill>
                  <a:schemeClr val="dk2"/>
                </a:solidFill>
              </a:rPr>
              <a:t> 49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18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18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4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3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Increment / decrement that index</a:t>
            </a:r>
            <a:endParaRPr sz="2400">
              <a:solidFill>
                <a:srgbClr val="F96611"/>
              </a:solidFill>
            </a:endParaRPr>
          </a:p>
        </p:txBody>
      </p:sp>
      <p:graphicFrame>
        <p:nvGraphicFramePr>
          <p:cNvPr id="106" name="Google Shape;106;p18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19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19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rgbClr val="F96611"/>
                </a:solidFill>
              </a:rPr>
              <a:t>Highest Square Index = 3</a:t>
            </a:r>
            <a:endParaRPr sz="2500">
              <a:solidFill>
                <a:srgbClr val="F96611"/>
              </a:solidFill>
            </a:endParaRPr>
          </a:p>
        </p:txBody>
      </p:sp>
      <p:sp>
        <p:nvSpPr>
          <p:cNvPr id="113" name="Google Shape;113;p19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3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Decrement highest square index</a:t>
            </a:r>
            <a:endParaRPr sz="2400">
              <a:solidFill>
                <a:srgbClr val="F96611"/>
              </a:solidFill>
            </a:endParaRPr>
          </a:p>
        </p:txBody>
      </p:sp>
      <p:graphicFrame>
        <p:nvGraphicFramePr>
          <p:cNvPr id="114" name="Google Shape;114;p19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0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20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3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1" name="Google Shape;121;p20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3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Left square: </a:t>
            </a:r>
            <a:r>
              <a:rPr lang="en" sz="2400">
                <a:solidFill>
                  <a:srgbClr val="F96611"/>
                </a:solidFill>
              </a:rPr>
              <a:t>1</a:t>
            </a:r>
            <a:r>
              <a:rPr lang="en" sz="2400">
                <a:solidFill>
                  <a:schemeClr val="dk2"/>
                </a:solidFill>
              </a:rPr>
              <a:t>			</a:t>
            </a:r>
            <a:r>
              <a:rPr b="0" lang="en" sz="2400">
                <a:solidFill>
                  <a:schemeClr val="dk2"/>
                </a:solidFill>
              </a:rPr>
              <a:t>	   Right square:</a:t>
            </a:r>
            <a:r>
              <a:rPr lang="en" sz="2400">
                <a:solidFill>
                  <a:schemeClr val="dk2"/>
                </a:solidFill>
              </a:rPr>
              <a:t> 49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122" name="Google Shape;122;p20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21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21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3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9" name="Google Shape;129;p21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3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1			</a:t>
            </a:r>
            <a:r>
              <a:rPr b="0" lang="en" sz="2400">
                <a:solidFill>
                  <a:schemeClr val="dk2"/>
                </a:solidFill>
              </a:rPr>
              <a:t>	   </a:t>
            </a:r>
            <a:r>
              <a:rPr b="0" lang="en" sz="2400">
                <a:solidFill>
                  <a:srgbClr val="F96611"/>
                </a:solidFill>
              </a:rPr>
              <a:t>Right square:</a:t>
            </a:r>
            <a:r>
              <a:rPr lang="en" sz="2400">
                <a:solidFill>
                  <a:srgbClr val="F96611"/>
                </a:solidFill>
              </a:rPr>
              <a:t> 25</a:t>
            </a:r>
            <a:endParaRPr sz="2400">
              <a:solidFill>
                <a:srgbClr val="F96611"/>
              </a:solidFill>
            </a:endParaRPr>
          </a:p>
        </p:txBody>
      </p:sp>
      <p:graphicFrame>
        <p:nvGraphicFramePr>
          <p:cNvPr id="130" name="Google Shape;130;p21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22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22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3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37" name="Google Shape;137;p22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Put </a:t>
            </a:r>
            <a:r>
              <a:rPr b="0" lang="en" sz="2400" u="sng">
                <a:solidFill>
                  <a:schemeClr val="dk2"/>
                </a:solidFill>
              </a:rPr>
              <a:t>larger square</a:t>
            </a:r>
            <a:r>
              <a:rPr b="0" lang="en" sz="2400">
                <a:solidFill>
                  <a:schemeClr val="dk2"/>
                </a:solidFill>
              </a:rPr>
              <a:t> into </a:t>
            </a:r>
            <a:r>
              <a:rPr lang="en" sz="2400">
                <a:solidFill>
                  <a:schemeClr val="dk2"/>
                </a:solidFill>
              </a:rPr>
              <a:t>highest square index</a:t>
            </a:r>
            <a:endParaRPr b="0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1			</a:t>
            </a:r>
            <a:r>
              <a:rPr b="0" lang="en" sz="2400">
                <a:solidFill>
                  <a:schemeClr val="dk2"/>
                </a:solidFill>
              </a:rPr>
              <a:t>	   </a:t>
            </a:r>
            <a:r>
              <a:rPr b="0" lang="en" sz="2400">
                <a:solidFill>
                  <a:srgbClr val="F96611"/>
                </a:solidFill>
              </a:rPr>
              <a:t>Right square:</a:t>
            </a:r>
            <a:r>
              <a:rPr lang="en" sz="2400">
                <a:solidFill>
                  <a:srgbClr val="F96611"/>
                </a:solidFill>
              </a:rPr>
              <a:t> 25</a:t>
            </a:r>
            <a:endParaRPr sz="2400">
              <a:solidFill>
                <a:srgbClr val="F96611"/>
              </a:solidFill>
            </a:endParaRPr>
          </a:p>
        </p:txBody>
      </p:sp>
      <p:graphicFrame>
        <p:nvGraphicFramePr>
          <p:cNvPr id="138" name="Google Shape;138;p22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23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23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3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45" name="Google Shape;145;p23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</a:t>
            </a:r>
            <a:r>
              <a:rPr b="0" lang="en" sz="2400">
                <a:solidFill>
                  <a:srgbClr val="F96611"/>
                </a:solidFill>
              </a:rPr>
              <a:t>Right index: </a:t>
            </a:r>
            <a:r>
              <a:rPr lang="en" sz="2400">
                <a:solidFill>
                  <a:srgbClr val="F96611"/>
                </a:solidFill>
              </a:rPr>
              <a:t>2</a:t>
            </a:r>
            <a:endParaRPr sz="2400">
              <a:solidFill>
                <a:srgbClr val="F9661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Increment / decrement that index</a:t>
            </a:r>
            <a:endParaRPr b="0" sz="2400">
              <a:solidFill>
                <a:schemeClr val="dk2"/>
              </a:solidFill>
            </a:endParaRPr>
          </a:p>
        </p:txBody>
      </p:sp>
      <p:graphicFrame>
        <p:nvGraphicFramePr>
          <p:cNvPr id="146" name="Google Shape;146;p23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24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24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rgbClr val="F96611"/>
                </a:solidFill>
              </a:rPr>
              <a:t>Highest Square Index = 2</a:t>
            </a:r>
            <a:endParaRPr sz="2500">
              <a:solidFill>
                <a:srgbClr val="F96611"/>
              </a:solidFill>
            </a:endParaRPr>
          </a:p>
        </p:txBody>
      </p:sp>
      <p:sp>
        <p:nvSpPr>
          <p:cNvPr id="153" name="Google Shape;153;p24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2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Decrement highest square index</a:t>
            </a:r>
            <a:endParaRPr b="0" sz="2400">
              <a:solidFill>
                <a:schemeClr val="dk2"/>
              </a:solidFill>
            </a:endParaRPr>
          </a:p>
        </p:txBody>
      </p:sp>
      <p:graphicFrame>
        <p:nvGraphicFramePr>
          <p:cNvPr id="154" name="Google Shape;154;p24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5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25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2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61" name="Google Shape;161;p25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index: </a:t>
            </a:r>
            <a:r>
              <a:rPr lang="en" sz="2400">
                <a:solidFill>
                  <a:srgbClr val="434343"/>
                </a:solidFill>
              </a:rPr>
              <a:t>0</a:t>
            </a:r>
            <a:r>
              <a:rPr b="0" lang="en" sz="2400">
                <a:solidFill>
                  <a:srgbClr val="434343"/>
                </a:solidFill>
              </a:rPr>
              <a:t> 						  Right index: </a:t>
            </a:r>
            <a:r>
              <a:rPr lang="en" sz="2400">
                <a:solidFill>
                  <a:srgbClr val="434343"/>
                </a:solidFill>
              </a:rPr>
              <a:t>2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Left square: </a:t>
            </a:r>
            <a:r>
              <a:rPr lang="en" sz="2400">
                <a:solidFill>
                  <a:srgbClr val="F96611"/>
                </a:solidFill>
              </a:rPr>
              <a:t>1</a:t>
            </a:r>
            <a:r>
              <a:rPr lang="en" sz="2400">
                <a:solidFill>
                  <a:srgbClr val="434343"/>
                </a:solidFill>
              </a:rPr>
              <a:t>			</a:t>
            </a:r>
            <a:r>
              <a:rPr b="0" lang="en" sz="2400">
                <a:solidFill>
                  <a:srgbClr val="434343"/>
                </a:solidFill>
              </a:rPr>
              <a:t>	   Right square:</a:t>
            </a:r>
            <a:r>
              <a:rPr lang="en" sz="2400">
                <a:solidFill>
                  <a:srgbClr val="434343"/>
                </a:solidFill>
              </a:rPr>
              <a:t> 25</a:t>
            </a:r>
            <a:endParaRPr sz="2400">
              <a:solidFill>
                <a:srgbClr val="434343"/>
              </a:solidFill>
            </a:endParaRPr>
          </a:p>
        </p:txBody>
      </p:sp>
      <p:graphicFrame>
        <p:nvGraphicFramePr>
          <p:cNvPr id="162" name="Google Shape;162;p25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26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26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2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69" name="Google Shape;169;p26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index: </a:t>
            </a:r>
            <a:r>
              <a:rPr lang="en" sz="2400">
                <a:solidFill>
                  <a:srgbClr val="434343"/>
                </a:solidFill>
              </a:rPr>
              <a:t>0</a:t>
            </a:r>
            <a:r>
              <a:rPr b="0" lang="en" sz="2400">
                <a:solidFill>
                  <a:srgbClr val="434343"/>
                </a:solidFill>
              </a:rPr>
              <a:t> 						  Right index: </a:t>
            </a:r>
            <a:r>
              <a:rPr lang="en" sz="2400">
                <a:solidFill>
                  <a:srgbClr val="434343"/>
                </a:solidFill>
              </a:rPr>
              <a:t>2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square: </a:t>
            </a:r>
            <a:r>
              <a:rPr lang="en" sz="2400">
                <a:solidFill>
                  <a:srgbClr val="434343"/>
                </a:solidFill>
              </a:rPr>
              <a:t>1		  	</a:t>
            </a:r>
            <a:r>
              <a:rPr b="0" lang="en" sz="2400">
                <a:solidFill>
                  <a:srgbClr val="434343"/>
                </a:solidFill>
              </a:rPr>
              <a:t>	     </a:t>
            </a:r>
            <a:r>
              <a:rPr b="0" lang="en" sz="2400">
                <a:solidFill>
                  <a:srgbClr val="F96611"/>
                </a:solidFill>
              </a:rPr>
              <a:t>Right square:</a:t>
            </a:r>
            <a:r>
              <a:rPr lang="en" sz="2400">
                <a:solidFill>
                  <a:srgbClr val="F96611"/>
                </a:solidFill>
              </a:rPr>
              <a:t> 4</a:t>
            </a:r>
            <a:endParaRPr sz="2400">
              <a:solidFill>
                <a:srgbClr val="F96611"/>
              </a:solidFill>
            </a:endParaRPr>
          </a:p>
        </p:txBody>
      </p:sp>
      <p:graphicFrame>
        <p:nvGraphicFramePr>
          <p:cNvPr id="170" name="Google Shape;170;p26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27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27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rgbClr val="F96611"/>
                </a:solidFill>
              </a:rPr>
              <a:t>Highest Square Index = 1</a:t>
            </a:r>
            <a:endParaRPr sz="2500">
              <a:solidFill>
                <a:srgbClr val="F96611"/>
              </a:solidFill>
            </a:endParaRPr>
          </a:p>
        </p:txBody>
      </p:sp>
      <p:sp>
        <p:nvSpPr>
          <p:cNvPr id="177" name="Google Shape;177;p27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index: </a:t>
            </a:r>
            <a:r>
              <a:rPr lang="en" sz="2400">
                <a:solidFill>
                  <a:srgbClr val="434343"/>
                </a:solidFill>
              </a:rPr>
              <a:t>0</a:t>
            </a:r>
            <a:r>
              <a:rPr b="0" lang="en" sz="2400">
                <a:solidFill>
                  <a:srgbClr val="434343"/>
                </a:solidFill>
              </a:rPr>
              <a:t> 						  </a:t>
            </a:r>
            <a:r>
              <a:rPr b="0" lang="en" sz="2400">
                <a:solidFill>
                  <a:srgbClr val="F96611"/>
                </a:solidFill>
              </a:rPr>
              <a:t>Right index: </a:t>
            </a:r>
            <a:r>
              <a:rPr lang="en" sz="2400">
                <a:solidFill>
                  <a:srgbClr val="F96611"/>
                </a:solidFill>
              </a:rPr>
              <a:t>1</a:t>
            </a:r>
            <a:endParaRPr sz="2400">
              <a:solidFill>
                <a:srgbClr val="F9661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square: </a:t>
            </a:r>
            <a:r>
              <a:rPr lang="en" sz="2400">
                <a:solidFill>
                  <a:srgbClr val="434343"/>
                </a:solidFill>
              </a:rPr>
              <a:t>1		  	</a:t>
            </a:r>
            <a:r>
              <a:rPr b="0" lang="en" sz="2400">
                <a:solidFill>
                  <a:srgbClr val="434343"/>
                </a:solidFill>
              </a:rPr>
              <a:t>	     Right square:</a:t>
            </a:r>
            <a:r>
              <a:rPr lang="en" sz="2400">
                <a:solidFill>
                  <a:srgbClr val="434343"/>
                </a:solidFill>
              </a:rPr>
              <a:t> 4</a:t>
            </a:r>
            <a:endParaRPr sz="2400">
              <a:solidFill>
                <a:srgbClr val="434343"/>
              </a:solidFill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4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Google Shape;183;p28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7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8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rgbClr val="434343"/>
                </a:solidFill>
              </a:rPr>
              <a:t>Highest Square Index = 1</a:t>
            </a:r>
            <a:endParaRPr sz="2500">
              <a:solidFill>
                <a:srgbClr val="434343"/>
              </a:solidFill>
            </a:endParaRPr>
          </a:p>
        </p:txBody>
      </p:sp>
      <p:sp>
        <p:nvSpPr>
          <p:cNvPr id="185" name="Google Shape;185;p28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index: </a:t>
            </a:r>
            <a:r>
              <a:rPr lang="en" sz="2400">
                <a:solidFill>
                  <a:srgbClr val="434343"/>
                </a:solidFill>
              </a:rPr>
              <a:t>0</a:t>
            </a:r>
            <a:r>
              <a:rPr b="0" lang="en" sz="2400">
                <a:solidFill>
                  <a:srgbClr val="434343"/>
                </a:solidFill>
              </a:rPr>
              <a:t> 						  Right index: </a:t>
            </a:r>
            <a:r>
              <a:rPr lang="en" sz="2400">
                <a:solidFill>
                  <a:srgbClr val="434343"/>
                </a:solidFill>
              </a:rPr>
              <a:t>1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F96611"/>
                </a:solidFill>
              </a:rPr>
              <a:t>Left square: </a:t>
            </a:r>
            <a:r>
              <a:rPr lang="en" sz="2400">
                <a:solidFill>
                  <a:srgbClr val="F96611"/>
                </a:solidFill>
              </a:rPr>
              <a:t>1</a:t>
            </a:r>
            <a:r>
              <a:rPr lang="en" sz="2400">
                <a:solidFill>
                  <a:srgbClr val="434343"/>
                </a:solidFill>
              </a:rPr>
              <a:t>		  	</a:t>
            </a:r>
            <a:r>
              <a:rPr b="0" lang="en" sz="2400">
                <a:solidFill>
                  <a:srgbClr val="434343"/>
                </a:solidFill>
              </a:rPr>
              <a:t>	     </a:t>
            </a:r>
            <a:r>
              <a:rPr b="0" lang="en" sz="2400">
                <a:solidFill>
                  <a:srgbClr val="FFA775"/>
                </a:solidFill>
              </a:rPr>
              <a:t>Right square:</a:t>
            </a:r>
            <a:r>
              <a:rPr lang="en" sz="2400">
                <a:solidFill>
                  <a:srgbClr val="FFA775"/>
                </a:solidFill>
              </a:rPr>
              <a:t> 4</a:t>
            </a:r>
            <a:endParaRPr sz="2400">
              <a:solidFill>
                <a:srgbClr val="FFA775"/>
              </a:solidFill>
            </a:endParaRPr>
          </a:p>
        </p:txBody>
      </p:sp>
      <p:graphicFrame>
        <p:nvGraphicFramePr>
          <p:cNvPr id="186" name="Google Shape;186;p28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4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29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29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rgbClr val="F96611"/>
                </a:solidFill>
              </a:rPr>
              <a:t>Highest Square Index = 0</a:t>
            </a:r>
            <a:endParaRPr sz="2500">
              <a:solidFill>
                <a:srgbClr val="F96611"/>
              </a:solidFill>
            </a:endParaRPr>
          </a:p>
        </p:txBody>
      </p:sp>
      <p:sp>
        <p:nvSpPr>
          <p:cNvPr id="193" name="Google Shape;193;p29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index: </a:t>
            </a:r>
            <a:r>
              <a:rPr lang="en" sz="2400">
                <a:solidFill>
                  <a:srgbClr val="434343"/>
                </a:solidFill>
              </a:rPr>
              <a:t>0</a:t>
            </a:r>
            <a:r>
              <a:rPr b="0" lang="en" sz="2400">
                <a:solidFill>
                  <a:srgbClr val="434343"/>
                </a:solidFill>
              </a:rPr>
              <a:t> 						  </a:t>
            </a:r>
            <a:r>
              <a:rPr b="0" lang="en" sz="2400">
                <a:solidFill>
                  <a:srgbClr val="F96611"/>
                </a:solidFill>
              </a:rPr>
              <a:t>Right index: </a:t>
            </a:r>
            <a:r>
              <a:rPr lang="en" sz="2400">
                <a:solidFill>
                  <a:srgbClr val="F96611"/>
                </a:solidFill>
              </a:rPr>
              <a:t>0</a:t>
            </a:r>
            <a:endParaRPr sz="2400">
              <a:solidFill>
                <a:srgbClr val="F9661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rgbClr val="434343"/>
                </a:solidFill>
              </a:rPr>
              <a:t>Left square: </a:t>
            </a:r>
            <a:r>
              <a:rPr lang="en" sz="2400">
                <a:solidFill>
                  <a:srgbClr val="434343"/>
                </a:solidFill>
              </a:rPr>
              <a:t>1		  	</a:t>
            </a:r>
            <a:r>
              <a:rPr b="0" lang="en" sz="2400">
                <a:solidFill>
                  <a:srgbClr val="434343"/>
                </a:solidFill>
              </a:rPr>
              <a:t>	     Right square:</a:t>
            </a:r>
            <a:r>
              <a:rPr lang="en" sz="2400">
                <a:solidFill>
                  <a:srgbClr val="434343"/>
                </a:solidFill>
              </a:rPr>
              <a:t> 4</a:t>
            </a:r>
            <a:endParaRPr sz="2400">
              <a:solidFill>
                <a:srgbClr val="434343"/>
              </a:solidFill>
            </a:endParaRPr>
          </a:p>
        </p:txBody>
      </p:sp>
      <p:graphicFrame>
        <p:nvGraphicFramePr>
          <p:cNvPr id="194" name="Google Shape;194;p29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4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30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30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Highest Square Index = 0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01" name="Google Shape;201;p30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r>
              <a:rPr b="0" lang="en" sz="2400">
                <a:solidFill>
                  <a:schemeClr val="dk2"/>
                </a:solidFill>
              </a:rPr>
              <a:t> 						  Right index: </a:t>
            </a:r>
            <a:r>
              <a:rPr lang="en" sz="2400">
                <a:solidFill>
                  <a:schemeClr val="dk2"/>
                </a:solidFill>
              </a:rPr>
              <a:t>0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Left square: </a:t>
            </a:r>
            <a:r>
              <a:rPr lang="en" sz="2400">
                <a:solidFill>
                  <a:schemeClr val="dk2"/>
                </a:solidFill>
              </a:rPr>
              <a:t>1		  	</a:t>
            </a:r>
            <a:r>
              <a:rPr b="0" lang="en" sz="2400">
                <a:solidFill>
                  <a:schemeClr val="dk2"/>
                </a:solidFill>
              </a:rPr>
              <a:t>	     Right square:</a:t>
            </a:r>
            <a:r>
              <a:rPr lang="en" sz="2400">
                <a:solidFill>
                  <a:schemeClr val="dk2"/>
                </a:solidFill>
              </a:rPr>
              <a:t> 4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202" name="Google Shape;202;p30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4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31"/>
          <p:cNvGraphicFramePr/>
          <p:nvPr/>
        </p:nvGraphicFramePr>
        <p:xfrm>
          <a:off x="1562675" y="12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-1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31"/>
          <p:cNvSpPr txBox="1"/>
          <p:nvPr>
            <p:ph type="ctrTitle"/>
          </p:nvPr>
        </p:nvSpPr>
        <p:spPr>
          <a:xfrm>
            <a:off x="2485775" y="346650"/>
            <a:ext cx="52059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 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209" name="Google Shape;209;p31"/>
          <p:cNvSpPr txBox="1"/>
          <p:nvPr>
            <p:ph type="ctrTitle"/>
          </p:nvPr>
        </p:nvSpPr>
        <p:spPr>
          <a:xfrm>
            <a:off x="1444959" y="2665556"/>
            <a:ext cx="6551100" cy="9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210" name="Google Shape;210;p31"/>
          <p:cNvGraphicFramePr/>
          <p:nvPr/>
        </p:nvGraphicFramePr>
        <p:xfrm>
          <a:off x="1507500" y="379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{50240EC3-65BD-4C9E-983E-030317280A6C}</a:tableStyleId>
              </a:tblPr>
              <a:tblGrid>
                <a:gridCol w="1225800"/>
                <a:gridCol w="1225800"/>
                <a:gridCol w="1225800"/>
                <a:gridCol w="1225800"/>
                <a:gridCol w="1225800"/>
              </a:tblGrid>
              <a:tr h="97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4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25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49 </a:t>
                      </a:r>
                      <a:endParaRPr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ctrTitle"/>
          </p:nvPr>
        </p:nvSpPr>
        <p:spPr>
          <a:xfrm>
            <a:off x="1065775" y="54590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Time complexity </a:t>
            </a:r>
            <a:r>
              <a:rPr lang="en">
                <a:solidFill>
                  <a:schemeClr val="dk2"/>
                </a:solidFill>
              </a:rPr>
              <a:t>O(N)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Space complexity </a:t>
            </a:r>
            <a:r>
              <a:rPr lang="en">
                <a:solidFill>
                  <a:schemeClr val="dk2"/>
                </a:solidFill>
              </a:rPr>
              <a:t>O(N)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